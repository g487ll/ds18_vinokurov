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6D846-08A6-C747-BBEC-F2EB13C34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0AA8CF-2558-B867-0221-18078932C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7B34A4-17E5-4800-F611-CE986FA0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CE628-00E5-15C7-ECAF-8AAF2276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F1320-E0C8-DBA8-A441-352CBF91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90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EF7BF-7D4C-C17B-258B-2B8CCA7E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5D9229-B726-0401-6C83-1768042C6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2B8E60-48CB-82E1-3D9F-A6DE580E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8FA5BE-6281-6597-CF39-64D9B7C2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E3159C-380D-3E8B-2895-6ADE887F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78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E8D31-76FA-37A3-7C3F-1274F5E0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5BCC84-9DEB-DD8B-354C-2F55EE1BC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EF8114-A047-5A8A-565C-5D8FFCCB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DBDB50-B95F-46AC-B227-8A0AA65F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BEC7B0-E059-B799-5686-A4F5B0F1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1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6C211-FEFC-66FA-2E19-5AB5828E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9AFBA-4F35-DCC4-95E1-7BDD50CA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A0C71F-B511-13AA-B6BD-B9F418B6B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235A9E-08CB-CBA4-179A-29835770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0A2CDB-CA4E-EA48-62F4-7C01FFD4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7C36D0-EBC6-D448-EB36-5C700130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99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2FBC6-74FF-A446-1A48-88FA7C61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D9E7A6-0BD9-97A9-63FF-5B807B92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468B36-CDBD-1E22-04BC-EF77F54B2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B96AC3-D0AD-579A-7CAC-36E3B18D6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00752F-CC38-9696-A3D1-1F02E0CD5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FD1495-8283-D5BD-CB02-E9A99074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376D5C-8987-C9AC-3425-79AE542A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7210EF-2EA3-AC0B-2B9A-73F13859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5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66C2C-ACAD-0FB4-2129-02E1B40B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3EAFDA-B91C-FCB6-E51B-D8DCCBDB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631D08-22EB-67EA-3C8C-ACBFC281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904481-BEAC-15F0-DEE0-F3A28552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9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A5021F-A050-68F1-E644-64AE156B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89579C-0C9B-119B-83F0-4E5DC8C4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33812C-C134-953D-BF84-0622911E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19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2140A-E641-86D8-C2F5-CC99ABA1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35341-8CC4-DB33-2455-C490F7119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AA2391-52D2-8550-FA3A-4DC71C10B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35908A-805D-B5CE-8D63-627C2CB2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ACBDCA-17C7-73AF-3419-4AD97B66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30FC0D-2F3A-AE33-44FD-E6323CE0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98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67084-D393-CF6E-A117-933B246A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7FFF9D-0D4C-5F6A-87D1-C9749C680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04B498-BD81-6FB5-619C-9B31E992A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A895DB-2E9F-795E-9233-FA8B61E7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DD2F9E-D9EC-740F-61C9-D3AC6D0A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3B368F-A0A0-A0DE-E44E-01B9C320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71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06621-EA05-AD2C-D86A-76FF1E24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A567B2-89A2-DF37-4CEA-2098419A4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5A4207-FAE0-1E70-525E-72761FAA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87CB3C-9096-837F-5262-A64AF14C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085588-EB3C-DB99-429E-C0FC88F3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10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7BBE06-9BFE-CD2F-53A9-FBBCDE6DB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0E2862-0706-1F70-C0B5-39578370E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23BEDA-15DF-1DE7-C3A7-8ACBBDED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356843-AC4C-5650-506B-88AA5BC3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13612D-3E05-5762-0CD0-4EEDC0FC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724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5A9E4-BD6C-1164-296E-F61A2819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E6929D-EC9D-F768-D558-6995CBC7F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EDC7A-3DAF-FC1F-E349-2C531ECCB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CD58F-1C31-4957-BEA5-608F2B56B006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A2A07-AD1C-FCF9-41D9-17781C99A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54C4F4-9C26-7E2D-DEF0-4AF9816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833AC-A8DC-48A9-921D-E343326D5A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19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C019F-84DE-FD5F-CF1B-A57741C9B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Квантильные методы оценки рисков дорогостоящих дефектов в строительных объектах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A47319-724E-33F9-DEA9-F57B512C9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4200" y="516255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Подготовил студент группы: 	</a:t>
            </a:r>
            <a:r>
              <a:rPr lang="en-US" sz="2000" dirty="0"/>
              <a:t>DS-18 </a:t>
            </a:r>
            <a:r>
              <a:rPr lang="ru-RU" sz="2000" dirty="0"/>
              <a:t>Винокуров Тимофей Русланович</a:t>
            </a:r>
          </a:p>
          <a:p>
            <a:pPr algn="l"/>
            <a:r>
              <a:rPr lang="ru-RU" sz="2000" dirty="0"/>
              <a:t>Научный руководитель: 	</a:t>
            </a:r>
            <a:r>
              <a:rPr lang="ru-RU" sz="2000" dirty="0" err="1"/>
              <a:t>Кантонистова</a:t>
            </a:r>
            <a:r>
              <a:rPr lang="ru-RU" sz="2000" dirty="0"/>
              <a:t> Елена Олеговна</a:t>
            </a:r>
          </a:p>
        </p:txBody>
      </p:sp>
    </p:spTree>
    <p:extLst>
      <p:ext uri="{BB962C8B-B14F-4D97-AF65-F5344CB8AC3E}">
        <p14:creationId xmlns:p14="http://schemas.microsoft.com/office/powerpoint/2010/main" val="358845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A1247-610C-B54D-0548-145D7059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Ценность и 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BB5571-631B-4338-F2B9-DE1454EA9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Ценность задачи:</a:t>
            </a:r>
            <a:endParaRPr lang="ru-RU" dirty="0"/>
          </a:p>
          <a:p>
            <a:r>
              <a:rPr lang="ru-RU" dirty="0"/>
              <a:t>Строительные проекты сталкиваются с редкими, но катастрофически дорогими дефектами</a:t>
            </a:r>
          </a:p>
          <a:p>
            <a:r>
              <a:rPr lang="ru-RU" dirty="0"/>
              <a:t>Традиционные методы прогнозирования (на основе средних значений) систематически занижают риски</a:t>
            </a:r>
          </a:p>
          <a:p>
            <a:r>
              <a:rPr lang="ru-RU" dirty="0"/>
              <a:t>Неадекватные резервы бюджета =</a:t>
            </a:r>
            <a:r>
              <a:rPr lang="en-US" dirty="0"/>
              <a:t>&gt;</a:t>
            </a:r>
            <a:r>
              <a:rPr lang="ru-RU" dirty="0"/>
              <a:t> срыв сроков, финансовые потери, судебные споры</a:t>
            </a:r>
          </a:p>
          <a:p>
            <a:pPr marL="0" indent="0">
              <a:buNone/>
            </a:pPr>
            <a:r>
              <a:rPr lang="ru-RU" b="1" dirty="0"/>
              <a:t>Постановка задачи:</a:t>
            </a:r>
            <a:endParaRPr lang="ru-RU" dirty="0"/>
          </a:p>
          <a:p>
            <a:r>
              <a:rPr lang="ru-RU" dirty="0"/>
              <a:t>Проанализировать распределение затрат на строительные работы</a:t>
            </a:r>
          </a:p>
          <a:p>
            <a:r>
              <a:rPr lang="ru-RU" dirty="0"/>
              <a:t>Разработать методологию прогнозирования максимальных затрат с заданной вероятностью</a:t>
            </a:r>
          </a:p>
          <a:p>
            <a:r>
              <a:rPr lang="ru-RU" dirty="0"/>
              <a:t>Идентифицировать наиболее рисковые типы работ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813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CCEC-6206-C597-6B69-3F082E50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 работы(1/2)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9495D-007F-5B28-2CD5-B5E6C67C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Этап 1: Анализ данных и подготовка</a:t>
            </a:r>
            <a:endParaRPr lang="ru-RU" dirty="0"/>
          </a:p>
          <a:p>
            <a:r>
              <a:rPr lang="ru-RU" dirty="0"/>
              <a:t>Исследование распределения: гистограммы, ящик с усами(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plot</a:t>
            </a:r>
            <a:r>
              <a:rPr lang="ru-RU" dirty="0"/>
              <a:t>), квантильный анализ</a:t>
            </a:r>
          </a:p>
          <a:p>
            <a:r>
              <a:rPr lang="ru-RU" dirty="0"/>
              <a:t>Инжиниринг признаков: из текста "Наименование работ" в категорию "Тип локации"</a:t>
            </a:r>
          </a:p>
          <a:p>
            <a:r>
              <a:rPr lang="ru-RU" dirty="0"/>
              <a:t>Логарифмирование для нормализации распределения</a:t>
            </a:r>
          </a:p>
          <a:p>
            <a:pPr marL="0" indent="0">
              <a:buNone/>
            </a:pPr>
            <a:r>
              <a:rPr lang="ru-RU" b="1" dirty="0"/>
              <a:t>Этап 2: Разработка моделей</a:t>
            </a:r>
            <a:endParaRPr lang="ru-RU" dirty="0"/>
          </a:p>
          <a:p>
            <a:r>
              <a:rPr lang="ru-RU" dirty="0"/>
              <a:t>Тип модели: Квантильная регрессия (</a:t>
            </a:r>
            <a:r>
              <a:rPr lang="ru-RU" dirty="0" err="1"/>
              <a:t>Quantile</a:t>
            </a:r>
            <a:r>
              <a:rPr lang="ru-RU" dirty="0"/>
              <a:t> </a:t>
            </a:r>
            <a:r>
              <a:rPr lang="ru-RU" dirty="0" err="1"/>
              <a:t>Regression</a:t>
            </a:r>
            <a:r>
              <a:rPr lang="ru-RU" dirty="0"/>
              <a:t>)</a:t>
            </a:r>
          </a:p>
          <a:p>
            <a:r>
              <a:rPr lang="ru-RU" dirty="0"/>
              <a:t>Сравниваемые подходы:</a:t>
            </a:r>
          </a:p>
          <a:p>
            <a:pPr lvl="1"/>
            <a:r>
              <a:rPr lang="ru-RU" dirty="0"/>
              <a:t>На исходных данных</a:t>
            </a:r>
          </a:p>
          <a:p>
            <a:pPr lvl="1"/>
            <a:r>
              <a:rPr lang="ru-RU" dirty="0"/>
              <a:t>На логарифмированных данных</a:t>
            </a:r>
          </a:p>
          <a:p>
            <a:r>
              <a:rPr lang="ru-RU" dirty="0"/>
              <a:t>Квантили: 5%, 25% (нижний квартиль), 50% (медиана), 75% (верхний квартиль), 95%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78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7D8CD-8517-E84F-C0A7-6A3740E0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Методология работы (2/2)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7CAD9-3470-8D13-5D3C-391C2C1F3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Этап 3: Оценка качества</a:t>
            </a:r>
            <a:endParaRPr lang="ru-RU" dirty="0"/>
          </a:p>
          <a:p>
            <a:r>
              <a:rPr lang="ru-RU" b="1" dirty="0"/>
              <a:t>Метрики:</a:t>
            </a:r>
            <a:endParaRPr lang="ru-RU" dirty="0"/>
          </a:p>
          <a:p>
            <a:pPr lvl="1"/>
            <a:r>
              <a:rPr lang="ru-RU" dirty="0" err="1"/>
              <a:t>Pinball</a:t>
            </a:r>
            <a:r>
              <a:rPr lang="ru-RU" dirty="0"/>
              <a:t> </a:t>
            </a:r>
            <a:r>
              <a:rPr lang="ru-RU" dirty="0" err="1"/>
              <a:t>Loss</a:t>
            </a:r>
            <a:r>
              <a:rPr lang="ru-RU" dirty="0"/>
              <a:t> (специальная для квантильной регрессии)</a:t>
            </a:r>
          </a:p>
          <a:p>
            <a:pPr lvl="1"/>
            <a:r>
              <a:rPr lang="ru-RU" dirty="0"/>
              <a:t>WAPE (</a:t>
            </a:r>
            <a:r>
              <a:rPr lang="ru-RU" dirty="0" err="1"/>
              <a:t>Weighted</a:t>
            </a:r>
            <a:r>
              <a:rPr lang="ru-RU" dirty="0"/>
              <a:t> </a:t>
            </a:r>
            <a:r>
              <a:rPr lang="ru-RU" dirty="0" err="1"/>
              <a:t>Absolute</a:t>
            </a:r>
            <a:r>
              <a:rPr lang="ru-RU" dirty="0"/>
              <a:t> </a:t>
            </a:r>
            <a:r>
              <a:rPr lang="ru-RU" dirty="0" err="1"/>
              <a:t>Percentage</a:t>
            </a:r>
            <a:r>
              <a:rPr lang="ru-RU" dirty="0"/>
              <a:t> </a:t>
            </a:r>
            <a:r>
              <a:rPr lang="ru-RU" dirty="0" err="1"/>
              <a:t>Error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Median</a:t>
            </a:r>
            <a:r>
              <a:rPr lang="ru-RU" dirty="0"/>
              <a:t> APE (устойчивая к выбросам)</a:t>
            </a:r>
          </a:p>
          <a:p>
            <a:pPr marL="0" indent="0">
              <a:buNone/>
            </a:pPr>
            <a:r>
              <a:rPr lang="ru-RU" b="1" dirty="0"/>
              <a:t>Этап 4: Анализ рисков</a:t>
            </a:r>
            <a:endParaRPr lang="ru-RU" dirty="0"/>
          </a:p>
          <a:p>
            <a:r>
              <a:rPr lang="ru-RU" dirty="0"/>
              <a:t>Расчет Value </a:t>
            </a:r>
            <a:r>
              <a:rPr lang="ru-RU" dirty="0" err="1"/>
              <a:t>at</a:t>
            </a:r>
            <a:r>
              <a:rPr lang="ru-RU" dirty="0"/>
              <a:t> Risk (</a:t>
            </a:r>
            <a:r>
              <a:rPr lang="ru-RU" dirty="0" err="1"/>
              <a:t>VaR</a:t>
            </a:r>
            <a:r>
              <a:rPr lang="ru-RU" dirty="0"/>
              <a:t>) для всей выборки</a:t>
            </a:r>
          </a:p>
          <a:p>
            <a:r>
              <a:rPr lang="ru-RU" dirty="0"/>
              <a:t>Сравнение рисков по типам локаций</a:t>
            </a:r>
          </a:p>
          <a:p>
            <a:r>
              <a:rPr lang="ru-RU" dirty="0"/>
              <a:t>Разработка коэффициентов риска (VaR95% / Медиана)</a:t>
            </a:r>
          </a:p>
          <a:p>
            <a:pPr marL="0" indent="0">
              <a:buNone/>
            </a:pPr>
            <a:r>
              <a:rPr lang="ru-RU" b="1" dirty="0"/>
              <a:t>Этап 5: Формирование рекомендаций</a:t>
            </a:r>
            <a:endParaRPr lang="ru-RU" dirty="0"/>
          </a:p>
          <a:p>
            <a:r>
              <a:rPr lang="ru-RU" dirty="0"/>
              <a:t>Разделение прогнозов на: базовый сценарий (медиана) и риск-сценарий (VaR95%)</a:t>
            </a:r>
          </a:p>
          <a:p>
            <a:r>
              <a:rPr lang="ru-RU" dirty="0"/>
              <a:t>Расчет резервов бюджета как разницы между сценариями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156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E56B7-660A-0342-F495-7DF2D11B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данных и подготовка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98ADE-C37F-547A-2B6A-DA644C7F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42" y="4820460"/>
            <a:ext cx="11470355" cy="1833563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dirty="0"/>
              <a:t>Основные выводы для постановки проблемы:</a:t>
            </a:r>
          </a:p>
          <a:p>
            <a:pPr marL="0" indent="0" latinLnBrk="1">
              <a:buNone/>
            </a:pPr>
            <a:r>
              <a:rPr lang="ru-RU" dirty="0"/>
              <a:t>1. Среднее / Медиана = 5.85 (сильная асимметрия)</a:t>
            </a:r>
          </a:p>
          <a:p>
            <a:pPr marL="0" indent="0" latinLnBrk="1">
              <a:buNone/>
            </a:pPr>
            <a:r>
              <a:rPr lang="ru-RU" dirty="0"/>
              <a:t>2. 95% / Медиана = 32.05 (тяжелый хвост)</a:t>
            </a:r>
          </a:p>
          <a:p>
            <a:pPr marL="0" indent="0" latinLnBrk="1">
              <a:buNone/>
            </a:pPr>
            <a:r>
              <a:rPr lang="ru-RU" dirty="0"/>
              <a:t>3. 99% / Медиана = 46.14 (экстремальные значения)</a:t>
            </a:r>
          </a:p>
          <a:p>
            <a:pPr marL="0" indent="0" latinLnBrk="1">
              <a:buNone/>
            </a:pPr>
            <a:r>
              <a:rPr lang="ru-RU" dirty="0"/>
              <a:t>4. Максимум / 95% = 2.39 (выбросы в хвосте)</a:t>
            </a:r>
          </a:p>
          <a:p>
            <a:pPr marL="0" indent="0" latinLnBrk="1">
              <a:buNone/>
            </a:pPr>
            <a:r>
              <a:rPr lang="ru-RU" dirty="0"/>
              <a:t>5. 15.7% работ дают 80% общей стоимости</a:t>
            </a:r>
          </a:p>
          <a:p>
            <a:pPr marL="0" indent="0" latinLnBrk="1">
              <a:buNone/>
            </a:pPr>
            <a:r>
              <a:rPr lang="ru-RU" dirty="0"/>
              <a:t>6. Коэффициент асимметрии = 2.51 (правая асимметрия)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D2DEAB-E5BA-D0B1-2953-F15E5586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566" y="905599"/>
            <a:ext cx="8614360" cy="354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A783C-DDCD-3CC9-B4F6-FBCC228A70BB}"/>
              </a:ext>
            </a:extLst>
          </p:cNvPr>
          <p:cNvSpPr txBox="1"/>
          <p:nvPr/>
        </p:nvSpPr>
        <p:spPr>
          <a:xfrm>
            <a:off x="1989720" y="4399831"/>
            <a:ext cx="394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Рис. 1 Распределение стоимости работ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106F8-CBFE-B185-C448-2542EED5C3E3}"/>
              </a:ext>
            </a:extLst>
          </p:cNvPr>
          <p:cNvSpPr txBox="1"/>
          <p:nvPr/>
        </p:nvSpPr>
        <p:spPr>
          <a:xfrm>
            <a:off x="6549189" y="4399832"/>
            <a:ext cx="394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Рис. 2 Ящик с усами(</a:t>
            </a:r>
            <a:r>
              <a:rPr lang="en-US" sz="1400" dirty="0"/>
              <a:t>box plot)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8667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B6C87-0007-CB9D-5C0E-75E00D27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и валидация моделей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5C007B-4EC7-EC64-EDFE-D6E050AE4B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7" y="1252292"/>
            <a:ext cx="10515600" cy="381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2EAF75-FDEF-836D-2AC4-01EAD2474E48}"/>
              </a:ext>
            </a:extLst>
          </p:cNvPr>
          <p:cNvSpPr txBox="1"/>
          <p:nvPr/>
        </p:nvSpPr>
        <p:spPr>
          <a:xfrm>
            <a:off x="1888958" y="5257800"/>
            <a:ext cx="8193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Сравнительный анализ на пяти квантилях показал, что логарифмированная модель обеспечивает меньший </a:t>
            </a:r>
            <a:r>
              <a:rPr lang="ru-RU" dirty="0" err="1"/>
              <a:t>Pinball</a:t>
            </a:r>
            <a:r>
              <a:rPr lang="ru-RU" dirty="0"/>
              <a:t> </a:t>
            </a:r>
            <a:r>
              <a:rPr lang="ru-RU" dirty="0" err="1"/>
              <a:t>Loss</a:t>
            </a:r>
            <a:r>
              <a:rPr lang="ru-RU" dirty="0"/>
              <a:t> для всех квантилей, особенно для экстремальных. Например, для медианы (q=0,5) метрика снизилась на 25%, что обосновывает выбор этой модели для дальнейшего анализа рисков.</a:t>
            </a:r>
          </a:p>
        </p:txBody>
      </p:sp>
    </p:spTree>
    <p:extLst>
      <p:ext uri="{BB962C8B-B14F-4D97-AF65-F5344CB8AC3E}">
        <p14:creationId xmlns:p14="http://schemas.microsoft.com/office/powerpoint/2010/main" val="155096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087A5-FEB4-7FD2-B796-F6DE6C2E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риска(1/3)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10EC05-6C25-2B84-A0A5-B3A7117FB1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958" y="1170535"/>
            <a:ext cx="6355093" cy="359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A3EB0D-5CED-A134-3734-249894333A82}"/>
              </a:ext>
            </a:extLst>
          </p:cNvPr>
          <p:cNvSpPr txBox="1"/>
          <p:nvPr/>
        </p:nvSpPr>
        <p:spPr>
          <a:xfrm>
            <a:off x="2698081" y="5225800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system-ui"/>
              </a:rPr>
              <a:t>Расчет </a:t>
            </a:r>
            <a:r>
              <a:rPr lang="ru-RU" b="0" i="0" dirty="0" err="1">
                <a:effectLst/>
                <a:latin typeface="system-ui"/>
              </a:rPr>
              <a:t>VaR</a:t>
            </a:r>
            <a:r>
              <a:rPr lang="ru-RU" b="0" i="0" dirty="0">
                <a:effectLst/>
                <a:latin typeface="system-ui"/>
              </a:rPr>
              <a:t> для всей совокупности работ показал, что с вероятностью 95% затраты не превысят 150,000 руб., а с вероятностью 99% - 195,480 руб.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27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7411D-F80F-7E16-D10E-E2C10B7E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риска(2/3)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F82261B-2CFC-CA21-4FD2-393FDB4D83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3" y="1576860"/>
            <a:ext cx="9043434" cy="356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C2B3E0-9728-66F7-6186-78F77D9E240A}"/>
              </a:ext>
            </a:extLst>
          </p:cNvPr>
          <p:cNvSpPr txBox="1"/>
          <p:nvPr/>
        </p:nvSpPr>
        <p:spPr>
          <a:xfrm>
            <a:off x="1457325" y="5074538"/>
            <a:ext cx="9277350" cy="141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</a:rPr>
              <a:t>Критический уровень риска</a:t>
            </a:r>
            <a:r>
              <a:rPr lang="ru-RU" b="0" i="0" dirty="0">
                <a:effectLst/>
              </a:rPr>
              <a:t> </a:t>
            </a:r>
            <a:r>
              <a:rPr lang="en-US" b="0" i="0" dirty="0">
                <a:effectLst/>
              </a:rPr>
              <a:t>VaR95%/</a:t>
            </a:r>
            <a:r>
              <a:rPr lang="ru-RU" b="0" i="0" dirty="0">
                <a:effectLst/>
              </a:rPr>
              <a:t>медиана (коэффициент &gt; 50): Водостоки (124,7), Кровля (99,1), Лестницы (74,4)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</a:rPr>
              <a:t>Высокий уровень риска</a:t>
            </a:r>
            <a:r>
              <a:rPr lang="ru-RU" b="0" i="0" dirty="0">
                <a:effectLst/>
              </a:rPr>
              <a:t> (коэффициент 2-50): Прочие работы (56,2), Полы (54,1), Окна/Двери (4,9), Фасад (2,6)</a:t>
            </a:r>
          </a:p>
        </p:txBody>
      </p:sp>
    </p:spTree>
    <p:extLst>
      <p:ext uri="{BB962C8B-B14F-4D97-AF65-F5344CB8AC3E}">
        <p14:creationId xmlns:p14="http://schemas.microsoft.com/office/powerpoint/2010/main" val="58906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668F9-38AC-35DB-36E1-B87ACAB2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риска 3/3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6DE6E5-EFAB-93D7-0F51-976926A9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Варианты бюджетирования:</a:t>
            </a:r>
          </a:p>
          <a:p>
            <a:r>
              <a:rPr lang="ru-RU" dirty="0"/>
              <a:t>Консервативный бюджет= Σ(</a:t>
            </a:r>
            <a:r>
              <a:rPr lang="ru-RU" dirty="0" err="1"/>
              <a:t>VaR</a:t>
            </a:r>
            <a:r>
              <a:rPr lang="ru-RU" dirty="0"/>
              <a:t> 95% по всем работам)</a:t>
            </a:r>
          </a:p>
          <a:p>
            <a:r>
              <a:rPr lang="ru-RU" dirty="0"/>
              <a:t>Коммерческий объект = Σ(Медиана) + Σ[</a:t>
            </a:r>
            <a:r>
              <a:rPr lang="ru-RU" dirty="0" err="1"/>
              <a:t>Коэффициент_риска</a:t>
            </a:r>
            <a:r>
              <a:rPr lang="ru-RU" dirty="0"/>
              <a:t> × (</a:t>
            </a:r>
            <a:r>
              <a:rPr lang="ru-RU" dirty="0" err="1"/>
              <a:t>VaR</a:t>
            </a:r>
            <a:r>
              <a:rPr lang="ru-RU" dirty="0"/>
              <a:t> 95% − Медиана)]</a:t>
            </a:r>
          </a:p>
          <a:p>
            <a:r>
              <a:rPr lang="ru-RU" dirty="0"/>
              <a:t>Более агрессивный бюджет(маленький объект) = Σ(</a:t>
            </a:r>
            <a:r>
              <a:rPr lang="ru-RU" dirty="0" err="1"/>
              <a:t>VaR</a:t>
            </a:r>
            <a:r>
              <a:rPr lang="ru-RU" dirty="0"/>
              <a:t> 75%) + Страховой полис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55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E8DE6-C177-203F-C384-BD6E445D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579808-B60A-6ACF-5A83-5B2A901F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200" b="1" dirty="0"/>
              <a:t>Выявлены статистические аномалии данных:</a:t>
            </a:r>
            <a:endParaRPr lang="ru-RU" sz="2200" dirty="0"/>
          </a:p>
          <a:p>
            <a:pPr lvl="1"/>
            <a:r>
              <a:rPr lang="ru-RU" sz="2200" dirty="0"/>
              <a:t>Сильная правая асимметрия (коэффициент</a:t>
            </a:r>
            <a:r>
              <a:rPr lang="en-US" sz="2200" dirty="0"/>
              <a:t> </a:t>
            </a:r>
            <a:r>
              <a:rPr lang="ru-RU" sz="2200" dirty="0"/>
              <a:t>асимметрии = 9.35)</a:t>
            </a:r>
          </a:p>
          <a:p>
            <a:pPr lvl="1"/>
            <a:r>
              <a:rPr lang="ru-RU" sz="2200" dirty="0"/>
              <a:t>Правило Парето: 17.3% работ дают 80% стоимости</a:t>
            </a:r>
          </a:p>
          <a:p>
            <a:pPr lvl="1"/>
            <a:r>
              <a:rPr lang="ru-RU" sz="2200" dirty="0"/>
              <a:t>Среднее (325 </a:t>
            </a:r>
            <a:r>
              <a:rPr lang="ru-RU" sz="2200" dirty="0" err="1"/>
              <a:t>тыс,руб</a:t>
            </a:r>
            <a:r>
              <a:rPr lang="ru-RU" sz="2200" dirty="0"/>
              <a:t>) в 2,75 раза больше медианы (118 </a:t>
            </a:r>
            <a:r>
              <a:rPr lang="ru-RU" sz="2200" dirty="0" err="1"/>
              <a:t>тыс.руб</a:t>
            </a:r>
            <a:r>
              <a:rPr lang="ru-RU" sz="2200" dirty="0"/>
              <a:t>)</a:t>
            </a:r>
          </a:p>
          <a:p>
            <a:pPr marL="0" indent="0">
              <a:buNone/>
            </a:pPr>
            <a:r>
              <a:rPr lang="ru-RU" sz="2200" b="1" dirty="0"/>
              <a:t>Разработана и валидирована модель:</a:t>
            </a:r>
            <a:endParaRPr lang="ru-RU" sz="2200" dirty="0"/>
          </a:p>
          <a:p>
            <a:pPr lvl="1"/>
            <a:r>
              <a:rPr lang="ru-RU" sz="2200" dirty="0"/>
              <a:t>Лучшая модель: квантильная регрессия с логарифмированием</a:t>
            </a:r>
          </a:p>
          <a:p>
            <a:pPr lvl="1"/>
            <a:r>
              <a:rPr lang="ru-RU" sz="2200" dirty="0"/>
              <a:t>Улучшение </a:t>
            </a:r>
            <a:r>
              <a:rPr lang="ru-RU" sz="2200" dirty="0" err="1"/>
              <a:t>Pinball</a:t>
            </a:r>
            <a:r>
              <a:rPr lang="ru-RU" sz="2200" dirty="0"/>
              <a:t> </a:t>
            </a:r>
            <a:r>
              <a:rPr lang="ru-RU" sz="2200" dirty="0" err="1"/>
              <a:t>Loss</a:t>
            </a:r>
            <a:r>
              <a:rPr lang="ru-RU" sz="2200" dirty="0"/>
              <a:t> на 25% для медианного прогноза</a:t>
            </a:r>
          </a:p>
          <a:p>
            <a:pPr lvl="1"/>
            <a:r>
              <a:rPr lang="ru-RU" sz="2200" dirty="0"/>
              <a:t>Охватывает весь диапазон квантилей (5%-95%)</a:t>
            </a:r>
          </a:p>
          <a:p>
            <a:pPr marL="0" indent="0">
              <a:buNone/>
            </a:pPr>
            <a:r>
              <a:rPr lang="ru-RU" sz="2200" b="1" dirty="0"/>
              <a:t>Найдены ключевые метрики риска:</a:t>
            </a:r>
            <a:endParaRPr lang="ru-RU" sz="2200" dirty="0"/>
          </a:p>
          <a:p>
            <a:pPr lvl="1"/>
            <a:r>
              <a:rPr lang="ru-RU" sz="2200" dirty="0" err="1"/>
              <a:t>VaR</a:t>
            </a:r>
            <a:r>
              <a:rPr lang="ru-RU" sz="2200" dirty="0"/>
              <a:t> 95% = 325 000 руб. (с вероятностью 95% затраты не превысят)</a:t>
            </a:r>
          </a:p>
          <a:p>
            <a:pPr lvl="1"/>
            <a:r>
              <a:rPr lang="ru-RU" sz="2200" dirty="0" err="1"/>
              <a:t>VaR</a:t>
            </a:r>
            <a:r>
              <a:rPr lang="ru-RU" sz="2200" dirty="0"/>
              <a:t> 99% = 356 700 руб. (с вероятностью 99% затраты не превысят)</a:t>
            </a:r>
          </a:p>
          <a:p>
            <a:pPr marL="0" indent="0">
              <a:buNone/>
            </a:pPr>
            <a:r>
              <a:rPr lang="ru-RU" sz="2200" b="1" dirty="0"/>
              <a:t>Построен рейтинг рисков по типам работ:</a:t>
            </a:r>
            <a:endParaRPr lang="ru-RU" sz="2200" dirty="0"/>
          </a:p>
          <a:p>
            <a:pPr lvl="1"/>
            <a:r>
              <a:rPr lang="ru-RU" sz="2200" dirty="0"/>
              <a:t>Максимальный риск: Кровля (коэффициент риска = 4,5)</a:t>
            </a:r>
          </a:p>
          <a:p>
            <a:pPr lvl="1"/>
            <a:r>
              <a:rPr lang="ru-RU" sz="2200" dirty="0"/>
              <a:t>Минимальный риск: Водостоки (коэффициент риска = 1,2)</a:t>
            </a:r>
          </a:p>
          <a:p>
            <a:pPr lvl="1"/>
            <a:endParaRPr lang="ru-RU" sz="2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2424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696</Words>
  <Application>Microsoft Office PowerPoint</Application>
  <PresentationFormat>Широкоэкранный</PresentationFormat>
  <Paragraphs>73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system-ui</vt:lpstr>
      <vt:lpstr>Aptos</vt:lpstr>
      <vt:lpstr>Aptos Display</vt:lpstr>
      <vt:lpstr>Arial</vt:lpstr>
      <vt:lpstr>Тема Office</vt:lpstr>
      <vt:lpstr>Квантильные методы оценки рисков дорогостоящих дефектов в строительных объектах</vt:lpstr>
      <vt:lpstr>Ценность и постановка задачи</vt:lpstr>
      <vt:lpstr>Методология работы(1/2)</vt:lpstr>
      <vt:lpstr>Методология работы (2/2) </vt:lpstr>
      <vt:lpstr>Анализ данных и подготовка </vt:lpstr>
      <vt:lpstr>Построение и валидация моделей</vt:lpstr>
      <vt:lpstr>Анализ риска(1/3)</vt:lpstr>
      <vt:lpstr>Анализ риска(2/3)</vt:lpstr>
      <vt:lpstr>Анализ риска 3/3</vt:lpstr>
      <vt:lpstr>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Винокуров</dc:creator>
  <cp:lastModifiedBy>Тимофей Винокуров</cp:lastModifiedBy>
  <cp:revision>1</cp:revision>
  <dcterms:created xsi:type="dcterms:W3CDTF">2026-01-12T19:39:24Z</dcterms:created>
  <dcterms:modified xsi:type="dcterms:W3CDTF">2026-01-12T20:41:38Z</dcterms:modified>
</cp:coreProperties>
</file>